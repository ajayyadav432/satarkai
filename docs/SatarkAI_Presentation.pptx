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c8e29c63-e117-1e93-28d8-ddb3427ccc4f}">
          <p14:sldIdLst>
            <p14:sldId id="256"/>
          </p14:sldIdLst>
        </p14:section>
        <p14:section name="Problem" id="{7f618357-b378-3a5e-50b5-318a3b19acdc}">
          <p14:sldIdLst>
            <p14:sldId id="257"/>
          </p14:sldIdLst>
        </p14:section>
        <p14:section name="Solution" id="{a2c09801-c1cc-ab83-9f9a-cac5fe1f457f}">
          <p14:sldIdLst>
            <p14:sldId id="258"/>
            <p14:sldId id="259"/>
          </p14:sldIdLst>
        </p14:section>
        <p14:section name="How it decides" id="{9fb35d75-714d-bb6d-0eb7-9cbbaac6b0ad}">
          <p14:sldIdLst>
            <p14:sldId id="260"/>
            <p14:sldId id="261"/>
          </p14:sldIdLst>
        </p14:section>
        <p14:section name="AI and results" id="{ff4027d7-7549-5654-27ae-72283b08ed1d}">
          <p14:sldIdLst>
            <p14:sldId id="262"/>
            <p14:sldId id="263"/>
          </p14:sldIdLst>
        </p14:section>
        <p14:section name="Product" id="{23dfee27-386b-4a22-2e20-8a31698e9fc2}">
          <p14:sldIdLst>
            <p14:sldId id="264"/>
            <p14:sldId id="265"/>
          </p14:sldIdLst>
        </p14:section>
        <p14:section name="Fit and honesty" id="{8a50c2b4-fec6-9a5a-b7d9-b86e3c816c48}">
          <p14:sldIdLst>
            <p14:sldId id="266"/>
            <p14:sldId id="267"/>
            <p14:sldId id="268"/>
          </p14:sldIdLst>
        </p14:section>
        <p14:section name="Team" id="{acd4e6d3-b324-f256-24b1-23f6478dbd6c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B1F18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0B1F18"/>
                </a:solidFill>
                <a:latin typeface="+mn-lt"/>
              </a:rPr>
              <a:t>Evidence found, weight × 100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F1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Generic greeting</c:v>
                  </c:pt>
                  <c:pt idx="1">
                    <c:v>No HTTPS</c:v>
                  </c:pt>
                  <c:pt idx="2">
                    <c:v>Time pressure</c:v>
                  </c:pt>
                  <c:pt idx="3">
                    <c:v>Trust words in the link</c:v>
                  </c:pt>
                  <c:pt idx="4">
                    <c:v>Threat of loss</c:v>
                  </c:pt>
                  <c:pt idx="5">
                    <c:v>Bank name from a personal mobile</c:v>
                  </c:pt>
                  <c:pt idx="6">
                    <c:v>KYC demand</c:v>
                  </c:pt>
                  <c:pt idx="7">
                    <c:v>Text model: 93% scam</c:v>
                  </c:pt>
                  <c:pt idx="8">
                    <c:v>URL model: 100% phishing</c:v>
                  </c:pt>
                  <c:pt idx="9">
                    <c:v>SBI name on a domain SBI does not own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</c:v>
                </c:pt>
                <c:pt idx="1">
                  <c:v>15</c:v>
                </c:pt>
                <c:pt idx="2">
                  <c:v>25</c:v>
                </c:pt>
                <c:pt idx="3">
                  <c:v>35</c:v>
                </c:pt>
                <c:pt idx="4">
                  <c:v>35</c:v>
                </c:pt>
                <c:pt idx="5">
                  <c:v>40</c:v>
                </c:pt>
                <c:pt idx="6">
                  <c:v>40</c:v>
                </c:pt>
                <c:pt idx="7">
                  <c:v>41</c:v>
                </c:pt>
                <c:pt idx="8">
                  <c:v>55</c:v>
                </c:pt>
                <c:pt idx="9">
                  <c:v>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B1F1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B1F1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B1F18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0B1F18"/>
                </a:solidFill>
                <a:latin typeface="+mn-lt"/>
              </a:rPr>
              <a:t>Held-out test sets, 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SMS text model (1,032 SMS)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1F1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98.6</c:v>
                </c:pt>
                <c:pt idx="1">
                  <c:v>97.5</c:v>
                </c:pt>
                <c:pt idx="2">
                  <c:v>90.6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E-mail text model (3,496 e-mails)</c:v>
                </c:pt>
              </c:strCache>
            </c:strRef>
          </c:tx>
          <c:spPr>
            <a:solidFill>
              <a:srgbClr val="065F4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1F1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98.3</c:v>
                </c:pt>
                <c:pt idx="1">
                  <c:v>98.4</c:v>
                </c:pt>
                <c:pt idx="2">
                  <c:v>96.9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URL model (41,543 URLs, unseen domains)</c:v>
                </c:pt>
              </c:strCache>
            </c:strRef>
          </c:tx>
          <c:spPr>
            <a:solidFill>
              <a:srgbClr val="F5A52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1F1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81.3</c:v>
                </c:pt>
                <c:pt idx="1">
                  <c:v>96.6</c:v>
                </c:pt>
                <c:pt idx="2">
                  <c:v>45.9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0B1F1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B1F1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0B1F1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Satark means alert. Open with the Sunita ji story from JUDGING_QA section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91840"/>
            <a:ext cx="106984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691640"/>
            <a:ext cx="106984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SatarkAI  ·  IEEE-IGNITE Hackathon 2026  ·  Problem statement SKIT025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SatarkAI logo: a shield with a watchful ey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3152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SatarkAI</a:t>
            </a:r>
            <a:endParaRPr lang="en-US" sz="6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2918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accent1"/>
                </a:solidFill>
              </a:rPr>
              <a:t>Check it before you click.</a:t>
            </a:r>
            <a:endParaRPr lang="en-US" sz="2600" dirty="0"/>
          </a:p>
        </p:txBody>
      </p:sp>
      <p:sp>
        <p:nvSpPr>
          <p:cNvPr id="5" name="Subtitle"/>
          <p:cNvSpPr txBox="1"/>
          <p:nvPr/>
        </p:nvSpPr>
        <p:spPr>
          <a:xfrm>
            <a:off x="731520" y="40690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AI-based phishing, scam message and malicious URL detection. Offline, explainable, and in English, Hindi and Hinglish.</a:t>
            </a:r>
            <a:endParaRPr lang="en-US" sz="1800" dirty="0"/>
          </a:p>
        </p:txBody>
      </p:sp>
      <p:sp>
        <p:nvSpPr>
          <p:cNvPr id="6" name="Event and team"/>
          <p:cNvSpPr txBox="1"/>
          <p:nvPr/>
        </p:nvSpPr>
        <p:spPr>
          <a:xfrm>
            <a:off x="731520" y="54864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2"/>
                </a:solidFill>
              </a:rPr>
              <a:t>IEEE-IGNITE Hackathon 2026  ·  Problem statement SKIT025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Team: Ajay Yadav  ·  Divyansh Shah  ·  manasvi15-git  ·  gauravpareek-web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Cyber-fraud losses in India tripled in one year</a:t>
            </a:r>
            <a:endParaRPr lang="en-US" sz="3200" dirty="0"/>
          </a:p>
        </p:txBody>
      </p:sp>
      <p:sp>
        <p:nvSpPr>
          <p:cNvPr id="3" name="Stat card 1"/>
          <p:cNvSpPr/>
          <p:nvPr/>
        </p:nvSpPr>
        <p:spPr>
          <a:xfrm>
            <a:off x="548640" y="1325880"/>
            <a:ext cx="347472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4" name="Stat 1"/>
          <p:cNvSpPr txBox="1"/>
          <p:nvPr/>
        </p:nvSpPr>
        <p:spPr>
          <a:xfrm>
            <a:off x="822960" y="15087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</a:rPr>
              <a:t>₹22,845 cr</a:t>
            </a:r>
            <a:endParaRPr lang="en-US" sz="4400" dirty="0"/>
          </a:p>
        </p:txBody>
      </p:sp>
      <p:sp>
        <p:nvSpPr>
          <p:cNvPr id="5" name="Stat label 1"/>
          <p:cNvSpPr txBox="1"/>
          <p:nvPr/>
        </p:nvSpPr>
        <p:spPr>
          <a:xfrm>
            <a:off x="822960" y="23774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reported lost to cyber fraud in 2024</a:t>
            </a:r>
            <a:endParaRPr lang="en-US" sz="1400" dirty="0"/>
          </a:p>
        </p:txBody>
      </p:sp>
      <p:sp>
        <p:nvSpPr>
          <p:cNvPr id="6" name="Stat card 2"/>
          <p:cNvSpPr/>
          <p:nvPr/>
        </p:nvSpPr>
        <p:spPr>
          <a:xfrm>
            <a:off x="4297680" y="1325880"/>
            <a:ext cx="347472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7" name="Stat 2"/>
          <p:cNvSpPr txBox="1"/>
          <p:nvPr/>
        </p:nvSpPr>
        <p:spPr>
          <a:xfrm>
            <a:off x="4572000" y="15087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36.37 lakh</a:t>
            </a:r>
            <a:endParaRPr lang="en-US" sz="4400" dirty="0"/>
          </a:p>
        </p:txBody>
      </p:sp>
      <p:sp>
        <p:nvSpPr>
          <p:cNvPr id="8" name="Stat label 2"/>
          <p:cNvSpPr txBox="1"/>
          <p:nvPr/>
        </p:nvSpPr>
        <p:spPr>
          <a:xfrm>
            <a:off x="4572000" y="23774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cyber-fraud complaints in 2024 (24.42 lakh in 2023)</a:t>
            </a:r>
            <a:endParaRPr lang="en-US" sz="1400" dirty="0"/>
          </a:p>
        </p:txBody>
      </p:sp>
      <p:sp>
        <p:nvSpPr>
          <p:cNvPr id="9" name="Stat card 3"/>
          <p:cNvSpPr/>
          <p:nvPr/>
        </p:nvSpPr>
        <p:spPr>
          <a:xfrm>
            <a:off x="8046720" y="1325880"/>
            <a:ext cx="347472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0" name="Stat 3"/>
          <p:cNvSpPr txBox="1"/>
          <p:nvPr/>
        </p:nvSpPr>
        <p:spPr>
          <a:xfrm>
            <a:off x="8321040" y="15087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≈ 3×</a:t>
            </a:r>
            <a:endParaRPr lang="en-US" sz="4400" dirty="0"/>
          </a:p>
        </p:txBody>
      </p:sp>
      <p:sp>
        <p:nvSpPr>
          <p:cNvPr id="11" name="Stat label 3"/>
          <p:cNvSpPr txBox="1"/>
          <p:nvPr/>
        </p:nvSpPr>
        <p:spPr>
          <a:xfrm>
            <a:off x="8321040" y="23774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₹7,465 crore reported lost in 2023</a:t>
            </a:r>
            <a:endParaRPr lang="en-US" sz="1400" dirty="0"/>
          </a:p>
        </p:txBody>
      </p:sp>
      <p:sp>
        <p:nvSpPr>
          <p:cNvPr id="12" name="SMS frame"/>
          <p:cNvSpPr/>
          <p:nvPr/>
        </p:nvSpPr>
        <p:spPr>
          <a:xfrm>
            <a:off x="548640" y="3520440"/>
            <a:ext cx="5394960" cy="2423160"/>
          </a:xfrm>
          <a:prstGeom prst="roundRect">
            <a:avLst>
              <a:gd name="adj" fmla="val 4528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3" name="SMS label"/>
          <p:cNvSpPr txBox="1"/>
          <p:nvPr/>
        </p:nvSpPr>
        <p:spPr>
          <a:xfrm>
            <a:off x="822960" y="37033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A typical scam SMS at 9 pm</a:t>
            </a:r>
            <a:endParaRPr lang="en-US" sz="1400" dirty="0"/>
          </a:p>
        </p:txBody>
      </p:sp>
      <p:sp>
        <p:nvSpPr>
          <p:cNvPr id="14" name="SMS text"/>
          <p:cNvSpPr txBox="1"/>
          <p:nvPr/>
        </p:nvSpPr>
        <p:spPr>
          <a:xfrm>
            <a:off x="822960" y="41148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“Dear customer, your SBI account will be blocked today. Update your KYC immediately: http://sbi-kyc-update.xyz/login”</a:t>
            </a:r>
            <a:endParaRPr lang="en-US" sz="1600" dirty="0"/>
          </a:p>
        </p:txBody>
      </p:sp>
      <p:sp>
        <p:nvSpPr>
          <p:cNvPr id="15" name="SMS note"/>
          <p:cNvSpPr txBox="1"/>
          <p:nvPr/>
        </p:nvSpPr>
        <p:spPr>
          <a:xfrm>
            <a:off x="822960" y="5257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Bank name, urgency, a link that even contains “sbi”. One tap from a fake login page.</a:t>
            </a:r>
            <a:endParaRPr lang="en-US" sz="1300" dirty="0"/>
          </a:p>
        </p:txBody>
      </p:sp>
      <p:sp>
        <p:nvSpPr>
          <p:cNvPr id="16" name="Fail header"/>
          <p:cNvSpPr txBox="1"/>
          <p:nvPr/>
        </p:nvSpPr>
        <p:spPr>
          <a:xfrm>
            <a:off x="6355080" y="35204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Why today's tools fail</a:t>
            </a:r>
            <a:endParaRPr lang="en-US" sz="2000" dirty="0"/>
          </a:p>
        </p:txBody>
      </p:sp>
      <p:sp>
        <p:nvSpPr>
          <p:cNvPr id="17" name="Fail 1 circle"/>
          <p:cNvSpPr/>
          <p:nvPr/>
        </p:nvSpPr>
        <p:spPr>
          <a:xfrm>
            <a:off x="6355080" y="40690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Fail 1 icon" descr="Fail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9380" y="4183380"/>
            <a:ext cx="228600" cy="228600"/>
          </a:xfrm>
          <a:prstGeom prst="rect">
            <a:avLst/>
          </a:prstGeom>
        </p:spPr>
      </p:pic>
      <p:sp>
        <p:nvSpPr>
          <p:cNvPr id="19" name="Fail text 1"/>
          <p:cNvSpPr txBox="1"/>
          <p:nvPr/>
        </p:nvSpPr>
        <p:spPr>
          <a:xfrm>
            <a:off x="6995160" y="4069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Spam filters say “spam / not spam”, never why</a:t>
            </a:r>
            <a:endParaRPr lang="en-US" sz="1500" dirty="0"/>
          </a:p>
        </p:txBody>
      </p:sp>
      <p:sp>
        <p:nvSpPr>
          <p:cNvPr id="20" name="Fail 2 circle"/>
          <p:cNvSpPr/>
          <p:nvPr/>
        </p:nvSpPr>
        <p:spPr>
          <a:xfrm>
            <a:off x="6355080" y="4690872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1" name="Fail 2 icon" descr="Fail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380" y="4805172"/>
            <a:ext cx="228600" cy="228600"/>
          </a:xfrm>
          <a:prstGeom prst="rect">
            <a:avLst/>
          </a:prstGeom>
        </p:spPr>
      </p:pic>
      <p:sp>
        <p:nvSpPr>
          <p:cNvPr id="22" name="Fail text 2"/>
          <p:cNvSpPr txBox="1"/>
          <p:nvPr/>
        </p:nvSpPr>
        <p:spPr>
          <a:xfrm>
            <a:off x="6995160" y="469087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Most work only in English</a:t>
            </a:r>
            <a:endParaRPr lang="en-US" sz="1500" dirty="0"/>
          </a:p>
        </p:txBody>
      </p:sp>
      <p:sp>
        <p:nvSpPr>
          <p:cNvPr id="23" name="Fail 3 circle"/>
          <p:cNvSpPr/>
          <p:nvPr/>
        </p:nvSpPr>
        <p:spPr>
          <a:xfrm>
            <a:off x="6355080" y="5312664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4" name="Fail 3 icon" descr="Fail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380" y="5426964"/>
            <a:ext cx="228600" cy="228600"/>
          </a:xfrm>
          <a:prstGeom prst="rect">
            <a:avLst/>
          </a:prstGeom>
        </p:spPr>
      </p:pic>
      <p:sp>
        <p:nvSpPr>
          <p:cNvPr id="25" name="Fail text 3"/>
          <p:cNvSpPr txBox="1"/>
          <p:nvPr/>
        </p:nvSpPr>
        <p:spPr>
          <a:xfrm>
            <a:off x="6995160" y="531266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Nobody copy-pastes every SMS into a checker</a:t>
            </a:r>
            <a:endParaRPr lang="en-US" sz="1500" dirty="0"/>
          </a:p>
        </p:txBody>
      </p:sp>
      <p:sp>
        <p:nvSpPr>
          <p:cNvPr id="26" name="Source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Source: Ministry of Home Affairs reply in the Lok Sabha, July 2025 (reported by Business Standard, Angel One). Losses are amounts reported by complainants.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SatarkAI gives a verdict with reasons, before you click</a:t>
            </a:r>
            <a:endParaRPr lang="en-US" sz="3200" dirty="0"/>
          </a:p>
        </p:txBody>
      </p:sp>
      <p:sp>
        <p:nvSpPr>
          <p:cNvPr id="3" name="Risk score 0-100 circle"/>
          <p:cNvSpPr/>
          <p:nvPr/>
        </p:nvSpPr>
        <p:spPr>
          <a:xfrm>
            <a:off x="548640" y="13716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Risk score 0-100 icon" descr="Risk score 0-10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531620"/>
            <a:ext cx="320040" cy="320040"/>
          </a:xfrm>
          <a:prstGeom prst="rect">
            <a:avLst/>
          </a:prstGeom>
        </p:spPr>
      </p:pic>
      <p:sp>
        <p:nvSpPr>
          <p:cNvPr id="5" name="Risk score 0-100 header"/>
          <p:cNvSpPr txBox="1"/>
          <p:nvPr/>
        </p:nvSpPr>
        <p:spPr>
          <a:xfrm>
            <a:off x="1371600" y="13533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Risk score 0-100</a:t>
            </a:r>
            <a:endParaRPr lang="en-US" sz="1800" dirty="0"/>
          </a:p>
        </p:txBody>
      </p:sp>
      <p:sp>
        <p:nvSpPr>
          <p:cNvPr id="6" name="Risk score 0-100 body"/>
          <p:cNvSpPr txBox="1"/>
          <p:nvPr/>
        </p:nvSpPr>
        <p:spPr>
          <a:xfrm>
            <a:off x="1371600" y="17373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Five levels: Safe, Low, Medium, High, Critical, plus the scam category</a:t>
            </a:r>
            <a:endParaRPr lang="en-US" sz="1400" dirty="0"/>
          </a:p>
        </p:txBody>
      </p:sp>
      <p:sp>
        <p:nvSpPr>
          <p:cNvPr id="7" name="Every reason shown circle"/>
          <p:cNvSpPr/>
          <p:nvPr/>
        </p:nvSpPr>
        <p:spPr>
          <a:xfrm>
            <a:off x="548640" y="25603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Every reason shown icon" descr="Every reason show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2720340"/>
            <a:ext cx="320040" cy="320040"/>
          </a:xfrm>
          <a:prstGeom prst="rect">
            <a:avLst/>
          </a:prstGeom>
        </p:spPr>
      </p:pic>
      <p:sp>
        <p:nvSpPr>
          <p:cNvPr id="9" name="Every reason shown header"/>
          <p:cNvSpPr txBox="1"/>
          <p:nvPr/>
        </p:nvSpPr>
        <p:spPr>
          <a:xfrm>
            <a:off x="1371600" y="25420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Every reason shown</a:t>
            </a:r>
            <a:endParaRPr lang="en-US" sz="1800" dirty="0"/>
          </a:p>
        </p:txBody>
      </p:sp>
      <p:sp>
        <p:nvSpPr>
          <p:cNvPr id="10" name="Every reason shown body"/>
          <p:cNvSpPr txBox="1"/>
          <p:nvPr/>
        </p:nvSpPr>
        <p:spPr>
          <a:xfrm>
            <a:off x="1371600" y="29260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Each factor has its weight and the exact text that triggered it</a:t>
            </a:r>
            <a:endParaRPr lang="en-US" sz="1400" dirty="0"/>
          </a:p>
        </p:txBody>
      </p:sp>
      <p:sp>
        <p:nvSpPr>
          <p:cNvPr id="11" name="Warning before interaction circle"/>
          <p:cNvSpPr/>
          <p:nvPr/>
        </p:nvSpPr>
        <p:spPr>
          <a:xfrm>
            <a:off x="548640" y="37490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Warning before interaction icon" descr="Warning before interac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3909060"/>
            <a:ext cx="320040" cy="320040"/>
          </a:xfrm>
          <a:prstGeom prst="rect">
            <a:avLst/>
          </a:prstGeom>
        </p:spPr>
      </p:pic>
      <p:sp>
        <p:nvSpPr>
          <p:cNvPr id="13" name="Warning before interaction header"/>
          <p:cNvSpPr txBox="1"/>
          <p:nvPr/>
        </p:nvSpPr>
        <p:spPr>
          <a:xfrm>
            <a:off x="1371600" y="37307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Warning before interaction</a:t>
            </a:r>
            <a:endParaRPr lang="en-US" sz="1800" dirty="0"/>
          </a:p>
        </p:txBody>
      </p:sp>
      <p:sp>
        <p:nvSpPr>
          <p:cNvPr id="14" name="Warning before interaction body"/>
          <p:cNvSpPr txBox="1"/>
          <p:nvPr/>
        </p:nvSpPr>
        <p:spPr>
          <a:xfrm>
            <a:off x="1371600" y="41148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Links shown defanged; a warning page stops risky links</a:t>
            </a:r>
            <a:endParaRPr lang="en-US" sz="1400" dirty="0"/>
          </a:p>
        </p:txBody>
      </p:sp>
      <p:sp>
        <p:nvSpPr>
          <p:cNvPr id="15" name="Offline and fast circle"/>
          <p:cNvSpPr/>
          <p:nvPr/>
        </p:nvSpPr>
        <p:spPr>
          <a:xfrm>
            <a:off x="548640" y="49377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Offline and fast icon" descr="Offline and fas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" y="5097780"/>
            <a:ext cx="320040" cy="320040"/>
          </a:xfrm>
          <a:prstGeom prst="rect">
            <a:avLst/>
          </a:prstGeom>
        </p:spPr>
      </p:pic>
      <p:sp>
        <p:nvSpPr>
          <p:cNvPr id="17" name="Offline and fast header"/>
          <p:cNvSpPr txBox="1"/>
          <p:nvPr/>
        </p:nvSpPr>
        <p:spPr>
          <a:xfrm>
            <a:off x="1371600" y="49194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Offline and fast</a:t>
            </a:r>
            <a:endParaRPr lang="en-US" sz="1800" dirty="0"/>
          </a:p>
        </p:txBody>
      </p:sp>
      <p:sp>
        <p:nvSpPr>
          <p:cNvPr id="18" name="Offline and fast body"/>
          <p:cNvSpPr txBox="1"/>
          <p:nvPr/>
        </p:nvSpPr>
        <p:spPr>
          <a:xfrm>
            <a:off x="1371600" y="53035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Runs on one laptop in milliseconds. No API key, no GPU</a:t>
            </a:r>
            <a:endParaRPr lang="en-US" sz="1400" dirty="0"/>
          </a:p>
        </p:txBody>
      </p:sp>
      <p:pic>
        <p:nvPicPr>
          <p:cNvPr id="19" name="Verdict screenshot" descr="Result: risk score 99 of 100, Critica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1371600"/>
            <a:ext cx="6080760" cy="1044875"/>
          </a:xfrm>
          <a:prstGeom prst="rect">
            <a:avLst/>
          </a:prstGeom>
        </p:spPr>
      </p:pic>
      <p:pic>
        <p:nvPicPr>
          <p:cNvPr id="20" name="Message screenshot" descr="The message with suspicious words, the link and the bank name highlighted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2606040"/>
            <a:ext cx="6080760" cy="1434142"/>
          </a:xfrm>
          <a:prstGeom prst="rect">
            <a:avLst/>
          </a:prstGeom>
        </p:spPr>
      </p:pic>
      <p:sp>
        <p:nvSpPr>
          <p:cNvPr id="21" name="Screenshot caption"/>
          <p:cNvSpPr txBox="1"/>
          <p:nvPr/>
        </p:nvSpPr>
        <p:spPr>
          <a:xfrm>
            <a:off x="5532120" y="4434840"/>
            <a:ext cx="6080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Real screenshots from the app: the SBI KYC example scored Critical 99 in 21.4 ms, offline. Yellow = suspicious wording, red = link, green = organisation named, dotted = word the text model reacts to.</a:t>
            </a:r>
            <a:endParaRPr lang="en-US" sz="1200" dirty="0"/>
          </a:p>
        </p:txBody>
      </p:sp>
      <p:sp>
        <p:nvSpPr>
          <p:cNvPr id="22" name="IO summary"/>
          <p:cNvSpPr txBox="1"/>
          <p:nvPr/>
        </p:nvSpPr>
        <p:spPr>
          <a:xfrm>
            <a:off x="5532120" y="5349240"/>
            <a:ext cx="6080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Input: any SMS, e-mail, chat message or link. Output: level, reasons, every link / phone number / UPI ID found, and what to do next.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One detection engine behind every channel</a:t>
            </a:r>
            <a:endParaRPr lang="en-US" sz="3200" dirty="0"/>
          </a:p>
        </p:txBody>
      </p:sp>
      <p:sp>
        <p:nvSpPr>
          <p:cNvPr id="3" name="1 · Sensors column"/>
          <p:cNvSpPr/>
          <p:nvPr/>
        </p:nvSpPr>
        <p:spPr>
          <a:xfrm>
            <a:off x="548640" y="1325880"/>
            <a:ext cx="2514600" cy="425196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4" name="1 · Sensors header"/>
          <p:cNvSpPr txBox="1"/>
          <p:nvPr/>
        </p:nvSpPr>
        <p:spPr>
          <a:xfrm>
            <a:off x="731520" y="14630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1 · Sensors</a:t>
            </a:r>
            <a:endParaRPr lang="en-US" sz="1700" dirty="0"/>
          </a:p>
        </p:txBody>
      </p:sp>
      <p:sp>
        <p:nvSpPr>
          <p:cNvPr id="5" name="1 · Sensors items"/>
          <p:cNvSpPr txBox="1"/>
          <p:nvPr/>
        </p:nvSpPr>
        <p:spPr>
          <a:xfrm>
            <a:off x="731520" y="1965960"/>
            <a:ext cx="21945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Android app: every incoming SMS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Chrome extension: pages, links, clicks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Gmail in Chrome: opened e-mail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Inbox watcher: IMAP every 20 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Web app: paste a message</a:t>
            </a:r>
            <a:endParaRPr lang="en-US" sz="1300" dirty="0"/>
          </a:p>
        </p:txBody>
      </p:sp>
      <p:sp>
        <p:nvSpPr>
          <p:cNvPr id="6" name="Arrow 1"/>
          <p:cNvSpPr/>
          <p:nvPr/>
        </p:nvSpPr>
        <p:spPr>
          <a:xfrm>
            <a:off x="3099816" y="3246120"/>
            <a:ext cx="265176" cy="36576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7" name="2 · Server (laptop) column"/>
          <p:cNvSpPr/>
          <p:nvPr/>
        </p:nvSpPr>
        <p:spPr>
          <a:xfrm>
            <a:off x="3401568" y="1325880"/>
            <a:ext cx="2514600" cy="425196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8" name="2 · Server (laptop) header"/>
          <p:cNvSpPr txBox="1"/>
          <p:nvPr/>
        </p:nvSpPr>
        <p:spPr>
          <a:xfrm>
            <a:off x="3584448" y="14630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2 · Server (laptop)</a:t>
            </a:r>
            <a:endParaRPr lang="en-US" sz="1700" dirty="0"/>
          </a:p>
        </p:txBody>
      </p:sp>
      <p:sp>
        <p:nvSpPr>
          <p:cNvPr id="9" name="2 · Server (laptop) items"/>
          <p:cNvSpPr txBox="1"/>
          <p:nvPr/>
        </p:nvSpPr>
        <p:spPr>
          <a:xfrm>
            <a:off x="3584448" y="1965960"/>
            <a:ext cx="21945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FastAPI on the laptop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Wi-Fi mode: other devices may only send messages in, with a pairing code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SQLite history with full-text search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Live alert feed</a:t>
            </a:r>
            <a:endParaRPr lang="en-US" sz="1300" dirty="0"/>
          </a:p>
        </p:txBody>
      </p:sp>
      <p:sp>
        <p:nvSpPr>
          <p:cNvPr id="10" name="Arrow 2"/>
          <p:cNvSpPr/>
          <p:nvPr/>
        </p:nvSpPr>
        <p:spPr>
          <a:xfrm>
            <a:off x="5952744" y="3246120"/>
            <a:ext cx="265176" cy="36576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1" name="3 · Detection engine column"/>
          <p:cNvSpPr/>
          <p:nvPr/>
        </p:nvSpPr>
        <p:spPr>
          <a:xfrm>
            <a:off x="6254496" y="1325880"/>
            <a:ext cx="2514600" cy="4251960"/>
          </a:xfrm>
          <a:prstGeom prst="roundRect">
            <a:avLst>
              <a:gd name="adj" fmla="val 4364"/>
            </a:avLst>
          </a:prstGeom>
          <a:solidFill>
            <a:schemeClr val="accent2"/>
          </a:solidFill>
          <a:ln/>
        </p:spPr>
      </p:sp>
      <p:sp>
        <p:nvSpPr>
          <p:cNvPr id="12" name="3 · Detection engine header"/>
          <p:cNvSpPr txBox="1"/>
          <p:nvPr/>
        </p:nvSpPr>
        <p:spPr>
          <a:xfrm>
            <a:off x="6437376" y="14630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3 · Detection engine</a:t>
            </a:r>
            <a:endParaRPr lang="en-US" sz="1700" dirty="0"/>
          </a:p>
        </p:txBody>
      </p:sp>
      <p:sp>
        <p:nvSpPr>
          <p:cNvPr id="13" name="3 · Detection engine items"/>
          <p:cNvSpPr txBox="1"/>
          <p:nvPr/>
        </p:nvSpPr>
        <p:spPr>
          <a:xfrm>
            <a:off x="6437376" y="1965960"/>
            <a:ext cx="21945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Extract links, phones, UPI, amounts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Link checks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Wording rules (243 patterns)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Sender and brand checks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Text model + URL model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Score → level → category → advice</a:t>
            </a:r>
            <a:endParaRPr lang="en-US" sz="1300" dirty="0"/>
          </a:p>
        </p:txBody>
      </p:sp>
      <p:sp>
        <p:nvSpPr>
          <p:cNvPr id="14" name="Arrow 3"/>
          <p:cNvSpPr/>
          <p:nvPr/>
        </p:nvSpPr>
        <p:spPr>
          <a:xfrm>
            <a:off x="8805672" y="3246120"/>
            <a:ext cx="265176" cy="36576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5" name="4 · Outputs column"/>
          <p:cNvSpPr/>
          <p:nvPr/>
        </p:nvSpPr>
        <p:spPr>
          <a:xfrm>
            <a:off x="9107424" y="1325880"/>
            <a:ext cx="2514600" cy="425196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16" name="4 · Outputs header"/>
          <p:cNvSpPr txBox="1"/>
          <p:nvPr/>
        </p:nvSpPr>
        <p:spPr>
          <a:xfrm>
            <a:off x="9290304" y="14630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4 · Outputs</a:t>
            </a:r>
            <a:endParaRPr lang="en-US" sz="1700" dirty="0"/>
          </a:p>
        </p:txBody>
      </p:sp>
      <p:sp>
        <p:nvSpPr>
          <p:cNvPr id="17" name="4 · Outputs items"/>
          <p:cNvSpPr txBox="1"/>
          <p:nvPr/>
        </p:nvSpPr>
        <p:spPr>
          <a:xfrm>
            <a:off x="9290304" y="1965960"/>
            <a:ext cx="21945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Phone notification + Call 1930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Page warning bar, link badges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Warning page before a risky link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Verdict bar above the e-mail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Dashboard, History, live alerts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Ask SatarkAI assistant</a:t>
            </a:r>
            <a:endParaRPr lang="en-US" sz="1300" dirty="0"/>
          </a:p>
        </p:txBody>
      </p:sp>
      <p:sp>
        <p:nvSpPr>
          <p:cNvPr id="18" name="Local first circle"/>
          <p:cNvSpPr/>
          <p:nvPr/>
        </p:nvSpPr>
        <p:spPr>
          <a:xfrm>
            <a:off x="548640" y="57150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Local first icon" descr="Local fir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5829300"/>
            <a:ext cx="228600" cy="228600"/>
          </a:xfrm>
          <a:prstGeom prst="rect">
            <a:avLst/>
          </a:prstGeom>
        </p:spPr>
      </p:pic>
      <p:sp>
        <p:nvSpPr>
          <p:cNvPr id="20" name="Local first text"/>
          <p:cNvSpPr txBox="1"/>
          <p:nvPr/>
        </p:nvSpPr>
        <p:spPr>
          <a:xfrm>
            <a:off x="1143000" y="57150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Local first: the analysis runs on the laptop. Only the optional assistant goes online, and it gets a summary of the scan, never the raw message.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Every piece of evidence adds up to one score</a:t>
            </a:r>
            <a:endParaRPr lang="en-US" sz="3200" dirty="0"/>
          </a:p>
        </p:txBody>
      </p:sp>
      <p:sp>
        <p:nvSpPr>
          <p:cNvPr id="3" name="Step 1"/>
          <p:cNvSpPr/>
          <p:nvPr/>
        </p:nvSpPr>
        <p:spPr>
          <a:xfrm>
            <a:off x="548640" y="1325880"/>
            <a:ext cx="1920240" cy="68580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4" name="Step label 1"/>
          <p:cNvSpPr txBox="1"/>
          <p:nvPr/>
        </p:nvSpPr>
        <p:spPr>
          <a:xfrm>
            <a:off x="868680" y="13258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Extract</a:t>
            </a:r>
            <a:endParaRPr lang="en-US" sz="1300" dirty="0"/>
          </a:p>
        </p:txBody>
      </p:sp>
      <p:sp>
        <p:nvSpPr>
          <p:cNvPr id="5" name="Step note 1"/>
          <p:cNvSpPr txBox="1"/>
          <p:nvPr/>
        </p:nvSpPr>
        <p:spPr>
          <a:xfrm>
            <a:off x="640080" y="21031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links, phones, UPI IDs, amounts</a:t>
            </a:r>
            <a:endParaRPr lang="en-US" sz="1200" dirty="0"/>
          </a:p>
        </p:txBody>
      </p:sp>
      <p:sp>
        <p:nvSpPr>
          <p:cNvPr id="6" name="Step 2"/>
          <p:cNvSpPr/>
          <p:nvPr/>
        </p:nvSpPr>
        <p:spPr>
          <a:xfrm>
            <a:off x="2377440" y="1325880"/>
            <a:ext cx="1920240" cy="68580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7" name="Step label 2"/>
          <p:cNvSpPr txBox="1"/>
          <p:nvPr/>
        </p:nvSpPr>
        <p:spPr>
          <a:xfrm>
            <a:off x="2697480" y="13258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Link checks</a:t>
            </a:r>
            <a:endParaRPr lang="en-US" sz="1300" dirty="0"/>
          </a:p>
        </p:txBody>
      </p:sp>
      <p:sp>
        <p:nvSpPr>
          <p:cNvPr id="8" name="Step note 2"/>
          <p:cNvSpPr txBox="1"/>
          <p:nvPr/>
        </p:nvSpPr>
        <p:spPr>
          <a:xfrm>
            <a:off x="2468880" y="21031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brand on a foreign domain, lookalikes, IP, shortener</a:t>
            </a:r>
            <a:endParaRPr lang="en-US" sz="1200" dirty="0"/>
          </a:p>
        </p:txBody>
      </p:sp>
      <p:sp>
        <p:nvSpPr>
          <p:cNvPr id="9" name="Step 3"/>
          <p:cNvSpPr/>
          <p:nvPr/>
        </p:nvSpPr>
        <p:spPr>
          <a:xfrm>
            <a:off x="4206240" y="1325880"/>
            <a:ext cx="1920240" cy="68580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10" name="Step label 3"/>
          <p:cNvSpPr txBox="1"/>
          <p:nvPr/>
        </p:nvSpPr>
        <p:spPr>
          <a:xfrm>
            <a:off x="4526280" y="13258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Wording rules</a:t>
            </a:r>
            <a:endParaRPr lang="en-US" sz="1300" dirty="0"/>
          </a:p>
        </p:txBody>
      </p:sp>
      <p:sp>
        <p:nvSpPr>
          <p:cNvPr id="11" name="Step note 3"/>
          <p:cNvSpPr txBox="1"/>
          <p:nvPr/>
        </p:nvSpPr>
        <p:spPr>
          <a:xfrm>
            <a:off x="4297680" y="21031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243 patterns, 19 groups: EN · Hinglish · Hindi</a:t>
            </a:r>
            <a:endParaRPr lang="en-US" sz="1200" dirty="0"/>
          </a:p>
        </p:txBody>
      </p:sp>
      <p:sp>
        <p:nvSpPr>
          <p:cNvPr id="12" name="Step 4"/>
          <p:cNvSpPr/>
          <p:nvPr/>
        </p:nvSpPr>
        <p:spPr>
          <a:xfrm>
            <a:off x="6035040" y="1325880"/>
            <a:ext cx="1920240" cy="68580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13" name="Step label 4"/>
          <p:cNvSpPr txBox="1"/>
          <p:nvPr/>
        </p:nvSpPr>
        <p:spPr>
          <a:xfrm>
            <a:off x="6355080" y="13258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Sender &amp; brand</a:t>
            </a:r>
            <a:endParaRPr lang="en-US" sz="1300" dirty="0"/>
          </a:p>
        </p:txBody>
      </p:sp>
      <p:sp>
        <p:nvSpPr>
          <p:cNvPr id="14" name="Step note 4"/>
          <p:cNvSpPr txBox="1"/>
          <p:nvPr/>
        </p:nvSpPr>
        <p:spPr>
          <a:xfrm>
            <a:off x="6126480" y="21031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39 organisations, sender-ID mismatch</a:t>
            </a:r>
            <a:endParaRPr lang="en-US" sz="1200" dirty="0"/>
          </a:p>
        </p:txBody>
      </p:sp>
      <p:sp>
        <p:nvSpPr>
          <p:cNvPr id="15" name="Step 5"/>
          <p:cNvSpPr/>
          <p:nvPr/>
        </p:nvSpPr>
        <p:spPr>
          <a:xfrm>
            <a:off x="7863840" y="1325880"/>
            <a:ext cx="1920240" cy="68580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16" name="Step label 5"/>
          <p:cNvSpPr txBox="1"/>
          <p:nvPr/>
        </p:nvSpPr>
        <p:spPr>
          <a:xfrm>
            <a:off x="8183880" y="13258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AI models</a:t>
            </a:r>
            <a:endParaRPr lang="en-US" sz="1300" dirty="0"/>
          </a:p>
        </p:txBody>
      </p:sp>
      <p:sp>
        <p:nvSpPr>
          <p:cNvPr id="17" name="Step note 5"/>
          <p:cNvSpPr txBox="1"/>
          <p:nvPr/>
        </p:nvSpPr>
        <p:spPr>
          <a:xfrm>
            <a:off x="7955280" y="21031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text model + URL model</a:t>
            </a:r>
            <a:endParaRPr lang="en-US" sz="1200" dirty="0"/>
          </a:p>
        </p:txBody>
      </p:sp>
      <p:sp>
        <p:nvSpPr>
          <p:cNvPr id="18" name="Step 6"/>
          <p:cNvSpPr/>
          <p:nvPr/>
        </p:nvSpPr>
        <p:spPr>
          <a:xfrm>
            <a:off x="9692640" y="1325880"/>
            <a:ext cx="1920240" cy="685800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19" name="Step label 6"/>
          <p:cNvSpPr txBox="1"/>
          <p:nvPr/>
        </p:nvSpPr>
        <p:spPr>
          <a:xfrm>
            <a:off x="10012680" y="13258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Score &amp; level</a:t>
            </a:r>
            <a:endParaRPr lang="en-US" sz="1300" dirty="0"/>
          </a:p>
        </p:txBody>
      </p:sp>
      <p:sp>
        <p:nvSpPr>
          <p:cNvPr id="20" name="Step note 6"/>
          <p:cNvSpPr txBox="1"/>
          <p:nvPr/>
        </p:nvSpPr>
        <p:spPr>
          <a:xfrm>
            <a:off x="9784080" y="21031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level, category, advice</a:t>
            </a:r>
            <a:endParaRPr lang="en-US" sz="1200" dirty="0"/>
          </a:p>
        </p:txBody>
      </p:sp>
      <p:sp>
        <p:nvSpPr>
          <p:cNvPr id="21" name="Formula card"/>
          <p:cNvSpPr/>
          <p:nvPr/>
        </p:nvSpPr>
        <p:spPr>
          <a:xfrm>
            <a:off x="548640" y="3108960"/>
            <a:ext cx="612648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2" name="Formula header"/>
          <p:cNvSpPr txBox="1"/>
          <p:nvPr/>
        </p:nvSpPr>
        <p:spPr>
          <a:xfrm>
            <a:off x="822960" y="32461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The scoring formula</a:t>
            </a:r>
            <a:endParaRPr lang="en-US" sz="1600" dirty="0"/>
          </a:p>
        </p:txBody>
      </p:sp>
      <p:sp>
        <p:nvSpPr>
          <p:cNvPr id="23" name="Formula"/>
          <p:cNvSpPr txBox="1"/>
          <p:nvPr/>
        </p:nvSpPr>
        <p:spPr>
          <a:xfrm>
            <a:off x="822960" y="365760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100 × [1 − (1−w₁)(1−w₂)…(1−wₙ)]</a:t>
            </a:r>
            <a:endParaRPr lang="en-US" sz="1700" dirty="0"/>
          </a:p>
        </p:txBody>
      </p:sp>
      <p:sp>
        <p:nvSpPr>
          <p:cNvPr id="24" name="Formula notes"/>
          <p:cNvSpPr txBox="1"/>
          <p:nvPr/>
        </p:nvSpPr>
        <p:spPr>
          <a:xfrm>
            <a:off x="822960" y="4206240"/>
            <a:ext cx="5669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Each weight w is between 0 and 1; more evidence never lowers the score, and it never passes 100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Without a strong non-model sign (w ≥ 0.30) the score stops at 59: a model alone can never say High</a:t>
            </a:r>
            <a:endParaRPr lang="en-US" sz="1300" dirty="0"/>
          </a:p>
        </p:txBody>
      </p:sp>
      <p:sp>
        <p:nvSpPr>
          <p:cNvPr id="25" name="Levels header"/>
          <p:cNvSpPr txBox="1"/>
          <p:nvPr/>
        </p:nvSpPr>
        <p:spPr>
          <a:xfrm>
            <a:off x="7040880" y="3108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Five levels from fixed ranges</a:t>
            </a:r>
            <a:endParaRPr lang="en-US" sz="1600" dirty="0"/>
          </a:p>
        </p:txBody>
      </p:sp>
      <p:sp>
        <p:nvSpPr>
          <p:cNvPr id="26" name="Safe chip"/>
          <p:cNvSpPr/>
          <p:nvPr/>
        </p:nvSpPr>
        <p:spPr>
          <a:xfrm>
            <a:off x="7040880" y="3566160"/>
            <a:ext cx="1463040" cy="292608"/>
          </a:xfrm>
          <a:prstGeom prst="roundRect">
            <a:avLst>
              <a:gd name="adj" fmla="val 25000"/>
            </a:avLst>
          </a:prstGeom>
          <a:solidFill>
            <a:schemeClr val="accent6"/>
          </a:solidFill>
          <a:ln/>
        </p:spPr>
      </p:sp>
      <p:sp>
        <p:nvSpPr>
          <p:cNvPr id="27" name="Safe label"/>
          <p:cNvSpPr txBox="1"/>
          <p:nvPr/>
        </p:nvSpPr>
        <p:spPr>
          <a:xfrm>
            <a:off x="7040880" y="35661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Safe</a:t>
            </a:r>
            <a:endParaRPr lang="en-US" sz="1300" dirty="0"/>
          </a:p>
        </p:txBody>
      </p:sp>
      <p:sp>
        <p:nvSpPr>
          <p:cNvPr id="28" name="Safe range"/>
          <p:cNvSpPr txBox="1"/>
          <p:nvPr/>
        </p:nvSpPr>
        <p:spPr>
          <a:xfrm>
            <a:off x="8686800" y="35661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0-19</a:t>
            </a:r>
            <a:endParaRPr lang="en-US" sz="1400" dirty="0"/>
          </a:p>
        </p:txBody>
      </p:sp>
      <p:sp>
        <p:nvSpPr>
          <p:cNvPr id="29" name="Low chip"/>
          <p:cNvSpPr/>
          <p:nvPr/>
        </p:nvSpPr>
        <p:spPr>
          <a:xfrm>
            <a:off x="7040880" y="3913632"/>
            <a:ext cx="1463040" cy="292608"/>
          </a:xfrm>
          <a:prstGeom prst="roundRect">
            <a:avLst>
              <a:gd name="adj" fmla="val 25000"/>
            </a:avLst>
          </a:prstGeom>
          <a:solidFill>
            <a:schemeClr val="tx2"/>
          </a:solidFill>
          <a:ln/>
        </p:spPr>
      </p:sp>
      <p:sp>
        <p:nvSpPr>
          <p:cNvPr id="30" name="Low label"/>
          <p:cNvSpPr txBox="1"/>
          <p:nvPr/>
        </p:nvSpPr>
        <p:spPr>
          <a:xfrm>
            <a:off x="7040880" y="39136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Low</a:t>
            </a:r>
            <a:endParaRPr lang="en-US" sz="1300" dirty="0"/>
          </a:p>
        </p:txBody>
      </p:sp>
      <p:sp>
        <p:nvSpPr>
          <p:cNvPr id="31" name="Low range"/>
          <p:cNvSpPr txBox="1"/>
          <p:nvPr/>
        </p:nvSpPr>
        <p:spPr>
          <a:xfrm>
            <a:off x="8686800" y="391363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20-39</a:t>
            </a:r>
            <a:endParaRPr lang="en-US" sz="1400" dirty="0"/>
          </a:p>
        </p:txBody>
      </p:sp>
      <p:sp>
        <p:nvSpPr>
          <p:cNvPr id="32" name="Medium chip"/>
          <p:cNvSpPr/>
          <p:nvPr/>
        </p:nvSpPr>
        <p:spPr>
          <a:xfrm>
            <a:off x="7040880" y="4261104"/>
            <a:ext cx="1463040" cy="292608"/>
          </a:xfrm>
          <a:prstGeom prst="roundRect">
            <a:avLst>
              <a:gd name="adj" fmla="val 25000"/>
            </a:avLst>
          </a:prstGeom>
          <a:solidFill>
            <a:schemeClr val="accent4"/>
          </a:solidFill>
          <a:ln/>
        </p:spPr>
      </p:sp>
      <p:sp>
        <p:nvSpPr>
          <p:cNvPr id="33" name="Medium label"/>
          <p:cNvSpPr txBox="1"/>
          <p:nvPr/>
        </p:nvSpPr>
        <p:spPr>
          <a:xfrm>
            <a:off x="7040880" y="426110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Medium</a:t>
            </a:r>
            <a:endParaRPr lang="en-US" sz="1300" dirty="0"/>
          </a:p>
        </p:txBody>
      </p:sp>
      <p:sp>
        <p:nvSpPr>
          <p:cNvPr id="34" name="Medium range"/>
          <p:cNvSpPr txBox="1"/>
          <p:nvPr/>
        </p:nvSpPr>
        <p:spPr>
          <a:xfrm>
            <a:off x="8686800" y="42611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40-59</a:t>
            </a:r>
            <a:endParaRPr lang="en-US" sz="1400" dirty="0"/>
          </a:p>
        </p:txBody>
      </p:sp>
      <p:sp>
        <p:nvSpPr>
          <p:cNvPr id="35" name="High chip"/>
          <p:cNvSpPr/>
          <p:nvPr/>
        </p:nvSpPr>
        <p:spPr>
          <a:xfrm>
            <a:off x="7040880" y="4608576"/>
            <a:ext cx="1463040" cy="292608"/>
          </a:xfrm>
          <a:prstGeom prst="roundRect">
            <a:avLst>
              <a:gd name="adj" fmla="val 25000"/>
            </a:avLst>
          </a:prstGeom>
          <a:solidFill>
            <a:schemeClr val="accent5"/>
          </a:solidFill>
          <a:ln/>
        </p:spPr>
      </p:sp>
      <p:sp>
        <p:nvSpPr>
          <p:cNvPr id="36" name="High label"/>
          <p:cNvSpPr txBox="1"/>
          <p:nvPr/>
        </p:nvSpPr>
        <p:spPr>
          <a:xfrm>
            <a:off x="7040880" y="46085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High</a:t>
            </a:r>
            <a:endParaRPr lang="en-US" sz="1300" dirty="0"/>
          </a:p>
        </p:txBody>
      </p:sp>
      <p:sp>
        <p:nvSpPr>
          <p:cNvPr id="37" name="High range"/>
          <p:cNvSpPr txBox="1"/>
          <p:nvPr/>
        </p:nvSpPr>
        <p:spPr>
          <a:xfrm>
            <a:off x="8686800" y="460857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60-79</a:t>
            </a:r>
            <a:endParaRPr lang="en-US" sz="1400" dirty="0"/>
          </a:p>
        </p:txBody>
      </p:sp>
      <p:sp>
        <p:nvSpPr>
          <p:cNvPr id="38" name="Critical chip"/>
          <p:cNvSpPr/>
          <p:nvPr/>
        </p:nvSpPr>
        <p:spPr>
          <a:xfrm>
            <a:off x="7040880" y="4956048"/>
            <a:ext cx="1463040" cy="292608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/>
        </p:spPr>
      </p:sp>
      <p:sp>
        <p:nvSpPr>
          <p:cNvPr id="39" name="Critical label"/>
          <p:cNvSpPr txBox="1"/>
          <p:nvPr/>
        </p:nvSpPr>
        <p:spPr>
          <a:xfrm>
            <a:off x="7040880" y="49560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Critical</a:t>
            </a:r>
            <a:endParaRPr lang="en-US" sz="1300" dirty="0"/>
          </a:p>
        </p:txBody>
      </p:sp>
      <p:sp>
        <p:nvSpPr>
          <p:cNvPr id="40" name="Critical range"/>
          <p:cNvSpPr txBox="1"/>
          <p:nvPr/>
        </p:nvSpPr>
        <p:spPr>
          <a:xfrm>
            <a:off x="8686800" y="495604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80-100</a:t>
            </a:r>
            <a:endParaRPr lang="en-US" sz="1400" dirty="0"/>
          </a:p>
        </p:txBody>
      </p:sp>
      <p:sp>
        <p:nvSpPr>
          <p:cNvPr id="41" name="Weights note"/>
          <p:cNvSpPr txBox="1"/>
          <p:nvPr/>
        </p:nvSpPr>
        <p:spPr>
          <a:xfrm>
            <a:off x="548640" y="54864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Example weights: asks for secret details 0.50 · KYC demand 0.40 · threat of loss 0.35 · time pressure 0.25. The text model adds 0.15-0.45 and the URL model 0.25-0.55, growing with their probability.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SBI KYC SMS, end to end: Critical 99</a:t>
            </a:r>
            <a:endParaRPr lang="en-US" sz="3200" dirty="0"/>
          </a:p>
        </p:txBody>
      </p:sp>
      <p:sp>
        <p:nvSpPr>
          <p:cNvPr id="3" name="Example card"/>
          <p:cNvSpPr/>
          <p:nvPr/>
        </p:nvSpPr>
        <p:spPr>
          <a:xfrm>
            <a:off x="548640" y="1325880"/>
            <a:ext cx="4206240" cy="480060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/>
        </p:spPr>
      </p:sp>
      <p:sp>
        <p:nvSpPr>
          <p:cNvPr id="4" name="Sender"/>
          <p:cNvSpPr txBox="1"/>
          <p:nvPr/>
        </p:nvSpPr>
        <p:spPr>
          <a:xfrm>
            <a:off x="77724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From 9876501234 (a personal mobile)</a:t>
            </a:r>
            <a:endParaRPr lang="en-US" sz="1300" dirty="0"/>
          </a:p>
        </p:txBody>
      </p:sp>
      <p:sp>
        <p:nvSpPr>
          <p:cNvPr id="5" name="Example SMS"/>
          <p:cNvSpPr txBox="1"/>
          <p:nvPr/>
        </p:nvSpPr>
        <p:spPr>
          <a:xfrm>
            <a:off x="777240" y="182880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“Dear customer, your SBI account will be blocked today. Update your KYC immediately: http://sbi-kyc-update.xyz/login”</a:t>
            </a:r>
            <a:endParaRPr lang="en-US" sz="1500" dirty="0"/>
          </a:p>
        </p:txBody>
      </p:sp>
      <p:sp>
        <p:nvSpPr>
          <p:cNvPr id="6" name="Verdict box"/>
          <p:cNvSpPr/>
          <p:nvPr/>
        </p:nvSpPr>
        <p:spPr>
          <a:xfrm>
            <a:off x="777240" y="3429000"/>
            <a:ext cx="3749040" cy="11430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/>
        </p:spPr>
      </p:sp>
      <p:sp>
        <p:nvSpPr>
          <p:cNvPr id="7" name="Verdict text"/>
          <p:cNvSpPr txBox="1"/>
          <p:nvPr/>
        </p:nvSpPr>
        <p:spPr>
          <a:xfrm>
            <a:off x="960120" y="347472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Critical 99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Category: KYC / account update</a:t>
            </a:r>
            <a:endParaRPr lang="en-US" sz="1400" dirty="0"/>
          </a:p>
        </p:txBody>
      </p:sp>
      <p:sp>
        <p:nvSpPr>
          <p:cNvPr id="8" name="Verdict explanation"/>
          <p:cNvSpPr txBox="1"/>
          <p:nvPr/>
        </p:nvSpPr>
        <p:spPr>
          <a:xfrm>
            <a:off x="777240" y="470916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100 × [1 − (1−0.60)(1−0.55)(1−0.41)…] = 99. Saved to History and sent to the live alert feed; the phone shows “Scam SMS · Critical 99”.</a:t>
            </a:r>
            <a:endParaRPr lang="en-US" sz="1300" dirty="0"/>
          </a:p>
        </p:txBody>
      </p:sp>
      <p:graphicFrame>
        <p:nvGraphicFramePr>
          <p:cNvPr id="9" name="Evidence chart" descr="Bar chart of the ten pieces of evidence and their weights"/>
          <p:cNvGraphicFramePr/>
          <p:nvPr/>
        </p:nvGraphicFramePr>
        <p:xfrm>
          <a:off x="5029200" y="1280160"/>
          <a:ext cx="6583680" cy="4892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Two AI models we trained, explained with exact SHAP</a:t>
            </a:r>
            <a:endParaRPr lang="en-US" sz="3200" dirty="0"/>
          </a:p>
        </p:txBody>
      </p:sp>
      <p:sp>
        <p:nvSpPr>
          <p:cNvPr id="3" name="Text model (SMS / chat and e-mail)"/>
          <p:cNvSpPr/>
          <p:nvPr/>
        </p:nvSpPr>
        <p:spPr>
          <a:xfrm>
            <a:off x="548640" y="1325880"/>
            <a:ext cx="51206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4" name="Text model (SMS / chat and e-mail) header"/>
          <p:cNvSpPr txBox="1"/>
          <p:nvPr/>
        </p:nvSpPr>
        <p:spPr>
          <a:xfrm>
            <a:off x="777240" y="14630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Text model (SMS / chat and e-mail)</a:t>
            </a:r>
            <a:endParaRPr lang="en-US" sz="1600" dirty="0"/>
          </a:p>
        </p:txBody>
      </p:sp>
      <p:sp>
        <p:nvSpPr>
          <p:cNvPr id="5" name="Text model (SMS / chat and e-mail) body"/>
          <p:cNvSpPr txBox="1"/>
          <p:nvPr/>
        </p:nvSpPr>
        <p:spPr>
          <a:xfrm>
            <a:off x="777240" y="182880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TF-IDF of words and two-word phrases + Logistic Regression. Phone numbers, amounts and links become tokens. Vocabulary: 6,733 (SMS), 135,524 (e-mail).</a:t>
            </a:r>
            <a:endParaRPr lang="en-US" sz="1300" dirty="0"/>
          </a:p>
        </p:txBody>
      </p:sp>
      <p:sp>
        <p:nvSpPr>
          <p:cNvPr id="6" name="URL model (“scorecard”)"/>
          <p:cNvSpPr/>
          <p:nvPr/>
        </p:nvSpPr>
        <p:spPr>
          <a:xfrm>
            <a:off x="548640" y="2926080"/>
            <a:ext cx="51206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7" name="URL model (“scorecard”) header"/>
          <p:cNvSpPr txBox="1"/>
          <p:nvPr/>
        </p:nvSpPr>
        <p:spPr>
          <a:xfrm>
            <a:off x="777240" y="3063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URL model (“scorecard”)</a:t>
            </a:r>
            <a:endParaRPr lang="en-US" sz="1600" dirty="0"/>
          </a:p>
        </p:txBody>
      </p:sp>
      <p:sp>
        <p:nvSpPr>
          <p:cNvPr id="8" name="URL model (“scorecard”) body"/>
          <p:cNvSpPr txBox="1"/>
          <p:nvPr/>
        </p:nvSpPr>
        <p:spPr>
          <a:xfrm>
            <a:off x="777240" y="342900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27 link features we defined (domain length, hyphens, entropy, TLD risk, trust words, path depth…) split into 98 ranges + Logistic Regression. https and www are deliberately not features.</a:t>
            </a:r>
            <a:endParaRPr lang="en-US" sz="1300" dirty="0"/>
          </a:p>
        </p:txBody>
      </p:sp>
      <p:sp>
        <p:nvSpPr>
          <p:cNvPr id="9" name="SHAP, exact not approximated"/>
          <p:cNvSpPr/>
          <p:nvPr/>
        </p:nvSpPr>
        <p:spPr>
          <a:xfrm>
            <a:off x="548640" y="4526280"/>
            <a:ext cx="51206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0" name="SHAP, exact not approximated header"/>
          <p:cNvSpPr txBox="1"/>
          <p:nvPr/>
        </p:nvSpPr>
        <p:spPr>
          <a:xfrm>
            <a:off x="777240" y="46634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SHAP, exact not approximated</a:t>
            </a:r>
            <a:endParaRPr lang="en-US" sz="1600" dirty="0"/>
          </a:p>
        </p:txBody>
      </p:sp>
      <p:sp>
        <p:nvSpPr>
          <p:cNvPr id="11" name="SHAP, exact not approximated body"/>
          <p:cNvSpPr txBox="1"/>
          <p:nvPr/>
        </p:nvSpPr>
        <p:spPr>
          <a:xfrm>
            <a:off x="777240" y="502920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Linear models give SHAP in closed form: weight × (value − training average). Tested against shap.LinearExplainer: largest difference over all 6,733 SMS features is 0.0.</a:t>
            </a:r>
            <a:endParaRPr lang="en-US" sz="1300" dirty="0"/>
          </a:p>
        </p:txBody>
      </p:sp>
      <p:pic>
        <p:nvPicPr>
          <p:cNvPr id="12" name="SHAP screenshot" descr="SHAP waterfall for the SBI SMS: from base -5.50 to 2.66, 93.5% sc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325880"/>
            <a:ext cx="5577840" cy="3984171"/>
          </a:xfrm>
          <a:prstGeom prst="rect">
            <a:avLst/>
          </a:prstGeom>
        </p:spPr>
      </p:pic>
      <p:sp>
        <p:nvSpPr>
          <p:cNvPr id="13" name="SHAP caption"/>
          <p:cNvSpPr txBox="1"/>
          <p:nvPr/>
        </p:nvSpPr>
        <p:spPr>
          <a:xfrm>
            <a:off x="6035040" y="5440680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SHAP waterfall in the app for the SBI SMS: from the average example (−5.50, 0.4%) to this message (2.66, 93.5% scam). Red pushes towards scam, green towards safe.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Measured on data the models never saw</a:t>
            </a:r>
            <a:endParaRPr lang="en-US" sz="3200" dirty="0"/>
          </a:p>
        </p:txBody>
      </p:sp>
      <p:graphicFrame>
        <p:nvGraphicFramePr>
          <p:cNvPr id="3" name="Results chart" descr="Accuracy, precision and recall of the three models"/>
          <p:cNvGraphicFramePr/>
          <p:nvPr/>
        </p:nvGraphicFramePr>
        <p:xfrm>
          <a:off x="548640" y="1280160"/>
          <a:ext cx="676656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llout 1"/>
          <p:cNvSpPr/>
          <p:nvPr/>
        </p:nvSpPr>
        <p:spPr>
          <a:xfrm>
            <a:off x="7680960" y="1325880"/>
            <a:ext cx="393192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5" name="Callout number 1"/>
          <p:cNvSpPr txBox="1"/>
          <p:nvPr/>
        </p:nvSpPr>
        <p:spPr>
          <a:xfrm>
            <a:off x="7863840" y="14173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0.3% · 1.0% · 0.8%</a:t>
            </a:r>
            <a:endParaRPr lang="en-US" sz="2600" dirty="0"/>
          </a:p>
        </p:txBody>
      </p:sp>
      <p:sp>
        <p:nvSpPr>
          <p:cNvPr id="6" name="Callout label 1"/>
          <p:cNvSpPr txBox="1"/>
          <p:nvPr/>
        </p:nvSpPr>
        <p:spPr>
          <a:xfrm>
            <a:off x="7863840" y="19202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false alarms: SMS · e-mail · URL</a:t>
            </a:r>
            <a:endParaRPr lang="en-US" sz="1200" dirty="0"/>
          </a:p>
        </p:txBody>
      </p:sp>
      <p:sp>
        <p:nvSpPr>
          <p:cNvPr id="7" name="Callout 2"/>
          <p:cNvSpPr/>
          <p:nvPr/>
        </p:nvSpPr>
        <p:spPr>
          <a:xfrm>
            <a:off x="7680960" y="2514600"/>
            <a:ext cx="393192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8" name="Callout number 2"/>
          <p:cNvSpPr txBox="1"/>
          <p:nvPr/>
        </p:nvSpPr>
        <p:spPr>
          <a:xfrm>
            <a:off x="7863840" y="26060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78.7%</a:t>
            </a:r>
            <a:endParaRPr lang="en-US" sz="2600" dirty="0"/>
          </a:p>
        </p:txBody>
      </p:sp>
      <p:sp>
        <p:nvSpPr>
          <p:cNvPr id="9" name="Callout label 2"/>
          <p:cNvSpPr txBox="1"/>
          <p:nvPr/>
        </p:nvSpPr>
        <p:spPr>
          <a:xfrm>
            <a:off x="7863840" y="31089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of 296 live OpenPhish links flagged (domains not in training)</a:t>
            </a:r>
            <a:endParaRPr lang="en-US" sz="1200" dirty="0"/>
          </a:p>
        </p:txBody>
      </p:sp>
      <p:sp>
        <p:nvSpPr>
          <p:cNvPr id="10" name="Callout 3"/>
          <p:cNvSpPr/>
          <p:nvPr/>
        </p:nvSpPr>
        <p:spPr>
          <a:xfrm>
            <a:off x="7680960" y="3703320"/>
            <a:ext cx="393192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11" name="Callout number 3"/>
          <p:cNvSpPr txBox="1"/>
          <p:nvPr/>
        </p:nvSpPr>
        <p:spPr>
          <a:xfrm>
            <a:off x="7863840" y="37947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302</a:t>
            </a:r>
            <a:endParaRPr lang="en-US" sz="2600" dirty="0"/>
          </a:p>
        </p:txBody>
      </p:sp>
      <p:sp>
        <p:nvSpPr>
          <p:cNvPr id="12" name="Callout label 3"/>
          <p:cNvSpPr txBox="1"/>
          <p:nvPr/>
        </p:nvSpPr>
        <p:spPr>
          <a:xfrm>
            <a:off x="7863840" y="42976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automated tests, one acceptance test per requirement</a:t>
            </a:r>
            <a:endParaRPr lang="en-US" sz="1200" dirty="0"/>
          </a:p>
        </p:txBody>
      </p:sp>
      <p:sp>
        <p:nvSpPr>
          <p:cNvPr id="13" name="URL note"/>
          <p:cNvSpPr txBox="1"/>
          <p:nvPr/>
        </p:nvSpPr>
        <p:spPr>
          <a:xfrm>
            <a:off x="7680960" y="4937760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Why URL accuracy is 81%, not 99%: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 the PhiUSIIL dataset every legitimate URL is https://www.&lt;domain&gt; with no path, so a model can score about 99% by learning that shortcut. We removed it and tuned for few false alarms; link checks and rules catch what it misses.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Protection without copy-paste</a:t>
            </a:r>
            <a:endParaRPr lang="en-US" sz="3200" dirty="0"/>
          </a:p>
        </p:txBody>
      </p:sp>
      <p:sp>
        <p:nvSpPr>
          <p:cNvPr id="3" name="Android SMS Guard card"/>
          <p:cNvSpPr/>
          <p:nvPr/>
        </p:nvSpPr>
        <p:spPr>
          <a:xfrm>
            <a:off x="548640" y="1325880"/>
            <a:ext cx="2606040" cy="33375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4" name="Android SMS Guard circle"/>
          <p:cNvSpPr/>
          <p:nvPr/>
        </p:nvSpPr>
        <p:spPr>
          <a:xfrm>
            <a:off x="777240" y="15544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Android SMS Guard icon" descr="Android SMS Gu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1725930"/>
            <a:ext cx="342900" cy="342900"/>
          </a:xfrm>
          <a:prstGeom prst="rect">
            <a:avLst/>
          </a:prstGeom>
        </p:spPr>
      </p:pic>
      <p:sp>
        <p:nvSpPr>
          <p:cNvPr id="6" name="Android SMS Guard header"/>
          <p:cNvSpPr txBox="1"/>
          <p:nvPr/>
        </p:nvSpPr>
        <p:spPr>
          <a:xfrm>
            <a:off x="777240" y="2423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Android SMS Guard</a:t>
            </a:r>
            <a:endParaRPr lang="en-US" sz="1700" dirty="0"/>
          </a:p>
        </p:txBody>
      </p:sp>
      <p:sp>
        <p:nvSpPr>
          <p:cNvPr id="7" name="Android SMS Guard body"/>
          <p:cNvSpPr txBox="1"/>
          <p:nvPr/>
        </p:nvSpPr>
        <p:spPr>
          <a:xfrm>
            <a:off x="777240" y="288036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Checks every incoming SMS and shows the verdict as a notification, with Call 1930. Tested on a real Samsung phone (Android 16).</a:t>
            </a:r>
            <a:endParaRPr lang="en-US" sz="1400" dirty="0"/>
          </a:p>
        </p:txBody>
      </p:sp>
      <p:sp>
        <p:nvSpPr>
          <p:cNvPr id="8" name="Chrome extension card"/>
          <p:cNvSpPr/>
          <p:nvPr/>
        </p:nvSpPr>
        <p:spPr>
          <a:xfrm>
            <a:off x="3383280" y="1325880"/>
            <a:ext cx="2606040" cy="33375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9" name="Chrome extension circle"/>
          <p:cNvSpPr/>
          <p:nvPr/>
        </p:nvSpPr>
        <p:spPr>
          <a:xfrm>
            <a:off x="3611880" y="15544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Chrome extension icon" descr="Chrome extens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3330" y="1725930"/>
            <a:ext cx="342900" cy="342900"/>
          </a:xfrm>
          <a:prstGeom prst="rect">
            <a:avLst/>
          </a:prstGeom>
        </p:spPr>
      </p:pic>
      <p:sp>
        <p:nvSpPr>
          <p:cNvPr id="11" name="Chrome extension header"/>
          <p:cNvSpPr txBox="1"/>
          <p:nvPr/>
        </p:nvSpPr>
        <p:spPr>
          <a:xfrm>
            <a:off x="3611880" y="2423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Chrome extension</a:t>
            </a:r>
            <a:endParaRPr lang="en-US" sz="1700" dirty="0"/>
          </a:p>
        </p:txBody>
      </p:sp>
      <p:sp>
        <p:nvSpPr>
          <p:cNvPr id="12" name="Chrome extension body"/>
          <p:cNvSpPr txBox="1"/>
          <p:nvPr/>
        </p:nvSpPr>
        <p:spPr>
          <a:xfrm>
            <a:off x="3611880" y="288036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Warning bar on risky pages, badges on risky links, clicks redirected to the warning page. If the server is off, nothing is blocked.</a:t>
            </a:r>
            <a:endParaRPr lang="en-US" sz="1400" dirty="0"/>
          </a:p>
        </p:txBody>
      </p:sp>
      <p:sp>
        <p:nvSpPr>
          <p:cNvPr id="13" name="Gmail and inbox card"/>
          <p:cNvSpPr/>
          <p:nvPr/>
        </p:nvSpPr>
        <p:spPr>
          <a:xfrm>
            <a:off x="6217920" y="1325880"/>
            <a:ext cx="2606040" cy="33375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4" name="Gmail and inbox circle"/>
          <p:cNvSpPr/>
          <p:nvPr/>
        </p:nvSpPr>
        <p:spPr>
          <a:xfrm>
            <a:off x="6446520" y="15544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Gmail and inbox icon" descr="Gmail and inbox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970" y="1725930"/>
            <a:ext cx="342900" cy="342900"/>
          </a:xfrm>
          <a:prstGeom prst="rect">
            <a:avLst/>
          </a:prstGeom>
        </p:spPr>
      </p:pic>
      <p:sp>
        <p:nvSpPr>
          <p:cNvPr id="16" name="Gmail and inbox header"/>
          <p:cNvSpPr txBox="1"/>
          <p:nvPr/>
        </p:nvSpPr>
        <p:spPr>
          <a:xfrm>
            <a:off x="6446520" y="2423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Gmail and inbox</a:t>
            </a:r>
            <a:endParaRPr lang="en-US" sz="1700" dirty="0"/>
          </a:p>
        </p:txBody>
      </p:sp>
      <p:sp>
        <p:nvSpPr>
          <p:cNvPr id="17" name="Gmail and inbox body"/>
          <p:cNvSpPr txBox="1"/>
          <p:nvPr/>
        </p:nvSpPr>
        <p:spPr>
          <a:xfrm>
            <a:off x="6446520" y="288036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Verdict bar above each opened e-mail. Inbox watcher checks new mail over IMAP every 20 s; mail stays unread.</a:t>
            </a:r>
            <a:endParaRPr lang="en-US" sz="1400" dirty="0"/>
          </a:p>
        </p:txBody>
      </p:sp>
      <p:sp>
        <p:nvSpPr>
          <p:cNvPr id="18" name="Sender memory card"/>
          <p:cNvSpPr/>
          <p:nvPr/>
        </p:nvSpPr>
        <p:spPr>
          <a:xfrm>
            <a:off x="9052560" y="1325880"/>
            <a:ext cx="2606040" cy="33375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9" name="Sender memory circle"/>
          <p:cNvSpPr/>
          <p:nvPr/>
        </p:nvSpPr>
        <p:spPr>
          <a:xfrm>
            <a:off x="9281160" y="15544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Sender memory icon" descr="Sender memor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2610" y="1725930"/>
            <a:ext cx="342900" cy="342900"/>
          </a:xfrm>
          <a:prstGeom prst="rect">
            <a:avLst/>
          </a:prstGeom>
        </p:spPr>
      </p:pic>
      <p:sp>
        <p:nvSpPr>
          <p:cNvPr id="21" name="Sender memory header"/>
          <p:cNvSpPr txBox="1"/>
          <p:nvPr/>
        </p:nvSpPr>
        <p:spPr>
          <a:xfrm>
            <a:off x="9281160" y="2423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Sender memory</a:t>
            </a:r>
            <a:endParaRPr lang="en-US" sz="1700" dirty="0"/>
          </a:p>
        </p:txBody>
      </p:sp>
      <p:sp>
        <p:nvSpPr>
          <p:cNvPr id="22" name="Sender memory body"/>
          <p:cNvSpPr txBox="1"/>
          <p:nvPr/>
        </p:nvSpPr>
        <p:spPr>
          <a:xfrm>
            <a:off x="9281160" y="288036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“Open the link I sent you earlier” from a sender who sent a phishing link scores Critical 86. After 3 risky messages: Block number.</a:t>
            </a:r>
            <a:endParaRPr lang="en-US" sz="1400" dirty="0"/>
          </a:p>
        </p:txBody>
      </p:sp>
      <p:sp>
        <p:nvSpPr>
          <p:cNvPr id="23" name="Report card"/>
          <p:cNvSpPr/>
          <p:nvPr/>
        </p:nvSpPr>
        <p:spPr>
          <a:xfrm>
            <a:off x="548640" y="4937760"/>
            <a:ext cx="1106424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24" name="Report circle"/>
          <p:cNvSpPr/>
          <p:nvPr/>
        </p:nvSpPr>
        <p:spPr>
          <a:xfrm>
            <a:off x="731520" y="502920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5" name="Report icon" descr="Repor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110" y="5177790"/>
            <a:ext cx="297180" cy="297180"/>
          </a:xfrm>
          <a:prstGeom prst="rect">
            <a:avLst/>
          </a:prstGeom>
        </p:spPr>
      </p:pic>
      <p:sp>
        <p:nvSpPr>
          <p:cNvPr id="26" name="Report text"/>
          <p:cNvSpPr txBox="1"/>
          <p:nvPr/>
        </p:nvSpPr>
        <p:spPr>
          <a:xfrm>
            <a:off x="1508760" y="493776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Critical results add “Report on cybercrime.gov.in”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(copies a ready-to-paste complaint and opens the national portal) and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Call 1930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, the national cyber-fraud helpline.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Searchable history and a security dashboard</a:t>
            </a:r>
            <a:endParaRPr lang="en-US" sz="3200" dirty="0"/>
          </a:p>
        </p:txBody>
      </p:sp>
      <p:pic>
        <p:nvPicPr>
          <p:cNvPr id="3" name="KPI screenshot" descr="Dashboard summary ti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315200" cy="903111"/>
          </a:xfrm>
          <a:prstGeom prst="rect">
            <a:avLst/>
          </a:prstGeom>
        </p:spPr>
      </p:pic>
      <p:pic>
        <p:nvPicPr>
          <p:cNvPr id="4" name="Charts screenshot" descr="Cases per day and risk levels char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77440"/>
            <a:ext cx="7315200" cy="2408296"/>
          </a:xfrm>
          <a:prstGeom prst="rect">
            <a:avLst/>
          </a:prstGeom>
        </p:spPr>
      </p:pic>
      <p:sp>
        <p:nvSpPr>
          <p:cNvPr id="5" name="Dashboard caption"/>
          <p:cNvSpPr txBox="1"/>
          <p:nvPr/>
        </p:nvSpPr>
        <p:spPr>
          <a:xfrm>
            <a:off x="548640" y="4846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Dashboard screenshot from the app; includes demo cases added for testing.</a:t>
            </a:r>
            <a:endParaRPr lang="en-US" sz="1100" dirty="0"/>
          </a:p>
        </p:txBody>
      </p:sp>
      <p:sp>
        <p:nvSpPr>
          <p:cNvPr id="6" name="History header"/>
          <p:cNvSpPr txBox="1"/>
          <p:nvPr/>
        </p:nvSpPr>
        <p:spPr>
          <a:xfrm>
            <a:off x="8229600" y="1325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History</a:t>
            </a:r>
            <a:endParaRPr lang="en-US" sz="1800" dirty="0"/>
          </a:p>
        </p:txBody>
      </p:sp>
      <p:sp>
        <p:nvSpPr>
          <p:cNvPr id="7" name="History list"/>
          <p:cNvSpPr txBox="1"/>
          <p:nvPr/>
        </p:nvSpPr>
        <p:spPr>
          <a:xfrm>
            <a:off x="8229600" y="17373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SQLite full-text search (kyc, 98765, sbi-kyc)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Filters, case status and analyst notes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CSV export and bulk upload</a:t>
            </a:r>
            <a:endParaRPr lang="en-US" sz="1400" dirty="0"/>
          </a:p>
        </p:txBody>
      </p:sp>
      <p:sp>
        <p:nvSpPr>
          <p:cNvPr id="8" name="Dashboard header"/>
          <p:cNvSpPr txBox="1"/>
          <p:nvPr/>
        </p:nvSpPr>
        <p:spPr>
          <a:xfrm>
            <a:off x="8229600" y="3337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Dashboard</a:t>
            </a:r>
            <a:endParaRPr lang="en-US" sz="1800" dirty="0"/>
          </a:p>
        </p:txBody>
      </p:sp>
      <p:sp>
        <p:nvSpPr>
          <p:cNvPr id="9" name="Dashboard list"/>
          <p:cNvSpPr txBox="1"/>
          <p:nvPr/>
        </p:nvSpPr>
        <p:spPr>
          <a:xfrm>
            <a:off x="8229600" y="374904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Cases per day and risk levels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Scam categories and warning signs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Impersonated organisations and suspicious domains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Repeat senders with a Block badge</a:t>
            </a:r>
            <a:endParaRPr lang="en-US" sz="1400" dirty="0"/>
          </a:p>
        </p:txBody>
      </p:sp>
      <p:sp>
        <p:nvSpPr>
          <p:cNvPr id="10" name="Human in the loop"/>
          <p:cNvSpPr txBox="1"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Analysts mark cases “Confirmed scam” or “False alarm”; these labels can become new training data.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All nine SKIT025 requirements are met and tested</a:t>
            </a:r>
            <a:endParaRPr lang="en-US" sz="3200" dirty="0"/>
          </a:p>
        </p:txBody>
      </p:sp>
      <p:graphicFrame>
        <p:nvGraphicFramePr>
          <p:cNvPr id="12" name="Requiremen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291840"/>
                <a:gridCol w="713232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Requirement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How SatarkAI meets it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R1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Analyze message text and URLs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One pipeline: rules, text model, link checks, URL model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R2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Suspicious linguistic patterns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243 patterns in 19 groups (English, Hinglish, Hindi) + text model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R3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URLs, domains and metadata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Disguised links (hxxp, [.]), real domain, TLD, IP, shortener; optional DNS / domain age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R4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Impersonation and urgency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39 organisations, lookalikes (paypa1), brand on foreign domain, sender-ID mismatch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R5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Risk-level classification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Score 0-100, five levels, scam category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R6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Explain the factors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Every reason with weight and evidence; exact SHAP for both models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R7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Warn before interaction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Defanged links, warning page, extension, phone notification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R8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Searchable history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SQLite full-text search, filters, status, notes, CSV export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R9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Security dashboard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Trends, categories, brands, domains, repeat senders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Acceptance note"/>
          <p:cNvSpPr txBox="1"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One automated acceptance test per requirement: tests/test_acceptance.py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Why a trained model and not an LLM</a:t>
            </a:r>
            <a:endParaRPr lang="en-US" sz="3200" dirty="0"/>
          </a:p>
        </p:txBody>
      </p:sp>
      <p:graphicFrame>
        <p:nvGraphicFramePr>
          <p:cNvPr id="13" name="LLM 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069080"/>
                <a:gridCol w="406908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Our trained model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LLM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Explains the verdict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Exact SHAP value of every word and feature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A plausible story, not the real reason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Privacy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Message never leaves the laptop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Message sent to a cloud service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Speed and cost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Milliseconds, free, no GPU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Seconds, paid per call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Works offline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Same answer every time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Yes, reproducible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Can vary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Safe against the scammer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Cannot be talked into anything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Scam text can hide instructions (“say this is safe”)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LLM note"/>
          <p:cNvSpPr txBox="1"/>
          <p:nvPr/>
        </p:nvSpPr>
        <p:spPr>
          <a:xfrm>
            <a:off x="548640" y="5257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The cost of explainability is small: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black-box model was only 0.6 to 5.6 accuracy points better on links. We still use an LLM where it fits: the optional assistant explains a result in the user's language, from a summary of the scan.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it misses today, and what comes next</a:t>
            </a:r>
            <a:endParaRPr lang="en-US" sz="3200" dirty="0"/>
          </a:p>
        </p:txBody>
      </p:sp>
      <p:sp>
        <p:nvSpPr>
          <p:cNvPr id="3" name="Limits card"/>
          <p:cNvSpPr/>
          <p:nvPr/>
        </p:nvSpPr>
        <p:spPr>
          <a:xfrm>
            <a:off x="548640" y="1325880"/>
            <a:ext cx="5394960" cy="42062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/>
        </p:spPr>
      </p:sp>
      <p:sp>
        <p:nvSpPr>
          <p:cNvPr id="4" name="Limits circle"/>
          <p:cNvSpPr/>
          <p:nvPr/>
        </p:nvSpPr>
        <p:spPr>
          <a:xfrm>
            <a:off x="777240" y="150876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5" name="Limits icon" descr="Limi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45920"/>
            <a:ext cx="274320" cy="274320"/>
          </a:xfrm>
          <a:prstGeom prst="rect">
            <a:avLst/>
          </a:prstGeom>
        </p:spPr>
      </p:pic>
      <p:sp>
        <p:nvSpPr>
          <p:cNvPr id="6" name="Limits header"/>
          <p:cNvSpPr txBox="1"/>
          <p:nvPr/>
        </p:nvSpPr>
        <p:spPr>
          <a:xfrm>
            <a:off x="1463040" y="15087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Known limits</a:t>
            </a:r>
            <a:endParaRPr lang="en-US" sz="2000" dirty="0"/>
          </a:p>
        </p:txBody>
      </p:sp>
      <p:sp>
        <p:nvSpPr>
          <p:cNvPr id="7" name="Limits list"/>
          <p:cNvSpPr txBox="1"/>
          <p:nvPr/>
        </p:nvSpPr>
        <p:spPr>
          <a:xfrm>
            <a:off x="777240" y="2194560"/>
            <a:ext cx="4937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Text models trained on English only (UK / Singapore SMS, older e-mail); Hindi and Hinglish rely on rules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labelled Indian scam dataset exists; India-specific rules are not measured on real data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URL model reads only the link text; it does not open the page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Misses: “guaranteed returns” posts, very short messages without a link, invoice / bank-account change e-mails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Automatic SMS checking is Android-only and needs the laptop</a:t>
            </a:r>
            <a:endParaRPr lang="en-US" sz="1400" dirty="0"/>
          </a:p>
        </p:txBody>
      </p:sp>
      <p:sp>
        <p:nvSpPr>
          <p:cNvPr id="8" name="Next card"/>
          <p:cNvSpPr/>
          <p:nvPr/>
        </p:nvSpPr>
        <p:spPr>
          <a:xfrm>
            <a:off x="6217920" y="1325880"/>
            <a:ext cx="5394960" cy="42062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/>
        </p:spPr>
      </p:sp>
      <p:sp>
        <p:nvSpPr>
          <p:cNvPr id="9" name="Next circle"/>
          <p:cNvSpPr/>
          <p:nvPr/>
        </p:nvSpPr>
        <p:spPr>
          <a:xfrm>
            <a:off x="6446520" y="1508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Next icon" descr="Nex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274320" cy="274320"/>
          </a:xfrm>
          <a:prstGeom prst="rect">
            <a:avLst/>
          </a:prstGeom>
        </p:spPr>
      </p:pic>
      <p:sp>
        <p:nvSpPr>
          <p:cNvPr id="11" name="Next header"/>
          <p:cNvSpPr txBox="1"/>
          <p:nvPr/>
        </p:nvSpPr>
        <p:spPr>
          <a:xfrm>
            <a:off x="7132320" y="15087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Next steps</a:t>
            </a:r>
            <a:endParaRPr lang="en-US" sz="2000" dirty="0"/>
          </a:p>
        </p:txBody>
      </p:sp>
      <p:sp>
        <p:nvSpPr>
          <p:cNvPr id="12" name="Next list"/>
          <p:cNvSpPr txBox="1"/>
          <p:nvPr/>
        </p:nvSpPr>
        <p:spPr>
          <a:xfrm>
            <a:off x="6446520" y="2194560"/>
            <a:ext cx="4937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Threat-intelligence blocklists of known bad links (OpenPhish today is used only for testing)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Sender authentication: TRAI-registered SMS sender IDs; SPF / DKIM / DMARC for e-mail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Turn analyst verdicts into a labelled Indian training set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Analyst accounts and roles</a:t>
            </a:r>
            <a:endParaRPr lang="en-US" sz="1400" dirty="0"/>
          </a:p>
        </p:txBody>
      </p:sp>
      <p:sp>
        <p:nvSpPr>
          <p:cNvPr id="13" name="Fresh test note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 39 fresh hand-written messages (TEST.md), 33 were rated correctly; the 6 misses are listed with reasons.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A second opinion before every click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6916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Thank you. We are happy to take questions.</a:t>
            </a:r>
            <a:endParaRPr lang="en-US" sz="2000" dirty="0"/>
          </a:p>
        </p:txBody>
      </p:sp>
      <p:sp>
        <p:nvSpPr>
          <p:cNvPr id="4" name="Ajay Yadav card"/>
          <p:cNvSpPr/>
          <p:nvPr/>
        </p:nvSpPr>
        <p:spPr>
          <a:xfrm>
            <a:off x="731520" y="2606040"/>
            <a:ext cx="2514600" cy="2011680"/>
          </a:xfrm>
          <a:prstGeom prst="roundRect">
            <a:avLst>
              <a:gd name="adj" fmla="val 5455"/>
            </a:avLst>
          </a:prstGeom>
          <a:solidFill>
            <a:schemeClr val="accent2"/>
          </a:solidFill>
          <a:ln/>
        </p:spPr>
      </p:sp>
      <p:sp>
        <p:nvSpPr>
          <p:cNvPr id="5" name="Ajay Yadav name"/>
          <p:cNvSpPr txBox="1"/>
          <p:nvPr/>
        </p:nvSpPr>
        <p:spPr>
          <a:xfrm>
            <a:off x="914400" y="27432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Ajay Yadav</a:t>
            </a:r>
            <a:endParaRPr lang="en-US" sz="1600" dirty="0"/>
          </a:p>
        </p:txBody>
      </p:sp>
      <p:sp>
        <p:nvSpPr>
          <p:cNvPr id="6" name="Ajay Yadav role"/>
          <p:cNvSpPr txBox="1"/>
          <p:nvPr/>
        </p:nvSpPr>
        <p:spPr>
          <a:xfrm>
            <a:off x="914400" y="31546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Core project</a:t>
            </a:r>
            <a:endParaRPr lang="en-US" sz="1400" dirty="0"/>
          </a:p>
        </p:txBody>
      </p:sp>
      <p:sp>
        <p:nvSpPr>
          <p:cNvPr id="7" name="Ajay Yadav work"/>
          <p:cNvSpPr txBox="1"/>
          <p:nvPr/>
        </p:nvSpPr>
        <p:spPr>
          <a:xfrm>
            <a:off x="914400" y="356616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Backend, detection engine, scoring formula, history, architecture</a:t>
            </a:r>
            <a:endParaRPr lang="en-US" sz="1300" dirty="0"/>
          </a:p>
        </p:txBody>
      </p:sp>
      <p:sp>
        <p:nvSpPr>
          <p:cNvPr id="8" name="Divyansh Shah card"/>
          <p:cNvSpPr/>
          <p:nvPr/>
        </p:nvSpPr>
        <p:spPr>
          <a:xfrm>
            <a:off x="3456432" y="2606040"/>
            <a:ext cx="2514600" cy="2011680"/>
          </a:xfrm>
          <a:prstGeom prst="roundRect">
            <a:avLst>
              <a:gd name="adj" fmla="val 5455"/>
            </a:avLst>
          </a:prstGeom>
          <a:solidFill>
            <a:schemeClr val="accent2"/>
          </a:solidFill>
          <a:ln/>
        </p:spPr>
      </p:sp>
      <p:sp>
        <p:nvSpPr>
          <p:cNvPr id="9" name="Divyansh Shah name"/>
          <p:cNvSpPr txBox="1"/>
          <p:nvPr/>
        </p:nvSpPr>
        <p:spPr>
          <a:xfrm>
            <a:off x="3639312" y="27432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Divyansh Shah</a:t>
            </a:r>
            <a:endParaRPr lang="en-US" sz="1600" dirty="0"/>
          </a:p>
        </p:txBody>
      </p:sp>
      <p:sp>
        <p:nvSpPr>
          <p:cNvPr id="10" name="Divyansh Shah role"/>
          <p:cNvSpPr txBox="1"/>
          <p:nvPr/>
        </p:nvSpPr>
        <p:spPr>
          <a:xfrm>
            <a:off x="3639312" y="31546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AI / ML models</a:t>
            </a:r>
            <a:endParaRPr lang="en-US" sz="1400" dirty="0"/>
          </a:p>
        </p:txBody>
      </p:sp>
      <p:sp>
        <p:nvSpPr>
          <p:cNvPr id="11" name="Divyansh Shah work"/>
          <p:cNvSpPr txBox="1"/>
          <p:nvPr/>
        </p:nvSpPr>
        <p:spPr>
          <a:xfrm>
            <a:off x="3639312" y="356616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Datasets, text and URL models, training, accuracy testing</a:t>
            </a:r>
            <a:endParaRPr lang="en-US" sz="1300" dirty="0"/>
          </a:p>
        </p:txBody>
      </p:sp>
      <p:sp>
        <p:nvSpPr>
          <p:cNvPr id="12" name="manasvi15-git card"/>
          <p:cNvSpPr/>
          <p:nvPr/>
        </p:nvSpPr>
        <p:spPr>
          <a:xfrm>
            <a:off x="6181344" y="2606040"/>
            <a:ext cx="2514600" cy="2011680"/>
          </a:xfrm>
          <a:prstGeom prst="roundRect">
            <a:avLst>
              <a:gd name="adj" fmla="val 5455"/>
            </a:avLst>
          </a:prstGeom>
          <a:solidFill>
            <a:schemeClr val="accent2"/>
          </a:solidFill>
          <a:ln/>
        </p:spPr>
      </p:sp>
      <p:sp>
        <p:nvSpPr>
          <p:cNvPr id="13" name="manasvi15-git name"/>
          <p:cNvSpPr txBox="1"/>
          <p:nvPr/>
        </p:nvSpPr>
        <p:spPr>
          <a:xfrm>
            <a:off x="6364224" y="27432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manasvi15-git</a:t>
            </a:r>
            <a:endParaRPr lang="en-US" sz="1600" dirty="0"/>
          </a:p>
        </p:txBody>
      </p:sp>
      <p:sp>
        <p:nvSpPr>
          <p:cNvPr id="14" name="manasvi15-git role"/>
          <p:cNvSpPr txBox="1"/>
          <p:nvPr/>
        </p:nvSpPr>
        <p:spPr>
          <a:xfrm>
            <a:off x="6364224" y="31546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UI / UX</a:t>
            </a:r>
            <a:endParaRPr lang="en-US" sz="1400" dirty="0"/>
          </a:p>
        </p:txBody>
      </p:sp>
      <p:sp>
        <p:nvSpPr>
          <p:cNvPr id="15" name="manasvi15-git work"/>
          <p:cNvSpPr txBox="1"/>
          <p:nvPr/>
        </p:nvSpPr>
        <p:spPr>
          <a:xfrm>
            <a:off x="6364224" y="356616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Web app design, History and Dashboard, logo, project guide</a:t>
            </a:r>
            <a:endParaRPr lang="en-US" sz="1300" dirty="0"/>
          </a:p>
        </p:txBody>
      </p:sp>
      <p:sp>
        <p:nvSpPr>
          <p:cNvPr id="16" name="gauravpareek-web card"/>
          <p:cNvSpPr/>
          <p:nvPr/>
        </p:nvSpPr>
        <p:spPr>
          <a:xfrm>
            <a:off x="8906256" y="2606040"/>
            <a:ext cx="2514600" cy="2011680"/>
          </a:xfrm>
          <a:prstGeom prst="roundRect">
            <a:avLst>
              <a:gd name="adj" fmla="val 5455"/>
            </a:avLst>
          </a:prstGeom>
          <a:solidFill>
            <a:schemeClr val="accent2"/>
          </a:solidFill>
          <a:ln/>
        </p:spPr>
      </p:sp>
      <p:sp>
        <p:nvSpPr>
          <p:cNvPr id="17" name="gauravpareek-web name"/>
          <p:cNvSpPr txBox="1"/>
          <p:nvPr/>
        </p:nvSpPr>
        <p:spPr>
          <a:xfrm>
            <a:off x="9089136" y="27432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gauravpareek-web</a:t>
            </a:r>
            <a:endParaRPr lang="en-US" sz="1600" dirty="0"/>
          </a:p>
        </p:txBody>
      </p:sp>
      <p:sp>
        <p:nvSpPr>
          <p:cNvPr id="18" name="gauravpareek-web role"/>
          <p:cNvSpPr txBox="1"/>
          <p:nvPr/>
        </p:nvSpPr>
        <p:spPr>
          <a:xfrm>
            <a:off x="9089136" y="31546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Apps</a:t>
            </a:r>
            <a:endParaRPr lang="en-US" sz="1400" dirty="0"/>
          </a:p>
        </p:txBody>
      </p:sp>
      <p:sp>
        <p:nvSpPr>
          <p:cNvPr id="19" name="gauravpareek-web work"/>
          <p:cNvSpPr txBox="1"/>
          <p:nvPr/>
        </p:nvSpPr>
        <p:spPr>
          <a:xfrm>
            <a:off x="9089136" y="356616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Android SMS app, Chrome extension, inbox watcher, assistant</a:t>
            </a:r>
            <a:endParaRPr lang="en-US" sz="1300" dirty="0"/>
          </a:p>
        </p:txBody>
      </p:sp>
      <p:sp>
        <p:nvSpPr>
          <p:cNvPr id="20" name="Tech stack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Tech stack  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Python 3.13 · FastAPI · scikit-learn · SHAP · SQLite FTS · HTML/CSS/JS + Chart.js · Chrome Manifest V3 · Kotlin + Jetpack Compose · pytest + Playwright</a:t>
            </a:r>
            <a:endParaRPr lang="en-US" sz="1400" dirty="0"/>
          </a:p>
        </p:txBody>
      </p:sp>
      <p:sp>
        <p:nvSpPr>
          <p:cNvPr id="21" name="Closing footer"/>
          <p:cNvSpPr txBox="1"/>
          <p:nvPr/>
        </p:nvSpPr>
        <p:spPr>
          <a:xfrm>
            <a:off x="731520" y="61722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SatarkAI  ·  IEEE-IGNITE Hackathon 2026  ·  Problem statement SKIT025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tarkAI Emerald">
  <a:themeElements>
    <a:clrScheme name="SatarkAI Emerald">
      <a:dk1>
        <a:srgbClr val="0B1F18"/>
      </a:dk1>
      <a:lt1>
        <a:srgbClr val="FFFFFF"/>
      </a:lt1>
      <a:dk2>
        <a:srgbClr val="4A5F57"/>
      </a:dk2>
      <a:lt2>
        <a:srgbClr val="EEF4F1"/>
      </a:lt2>
      <a:accent1>
        <a:srgbClr val="059669"/>
      </a:accent1>
      <a:accent2>
        <a:srgbClr val="065F46"/>
      </a:accent2>
      <a:accent3>
        <a:srgbClr val="DC3545"/>
      </a:accent3>
      <a:accent4>
        <a:srgbClr val="F5A524"/>
      </a:accent4>
      <a:accent5>
        <a:srgbClr val="F07A4A"/>
      </a:accent5>
      <a:accent6>
        <a:srgbClr val="16A34A"/>
      </a:accent6>
      <a:hlink>
        <a:srgbClr val="059669"/>
      </a:hlink>
      <a:folHlink>
        <a:srgbClr val="065F46"/>
      </a:folHlink>
    </a:clrScheme>
    <a:fontScheme name="SatarkAI Emerald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SatarkAI - IEEE-IGNITE Hackathon 2026</dc:title>
  <dc:subject>PptxGenJS Presentation</dc:subject>
  <dc:creator>Team SatarkAI</dc:creator>
  <cp:lastModifiedBy>Team SatarkAI</cp:lastModifiedBy>
  <cp:revision>1</cp:revision>
  <dcterms:created xsi:type="dcterms:W3CDTF">2026-10-15T02:32:43Z</dcterms:created>
  <dcterms:modified xsi:type="dcterms:W3CDTF">2026-10-15T02:32:43Z</dcterms:modified>
</cp:coreProperties>
</file>